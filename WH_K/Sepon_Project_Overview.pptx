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Sarabun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29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F35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โครงการระบบข้อมูล · เหมืองทองเซโปน (LXML)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ปฏิรูประบบข้อมูลหน้างาน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สู่ต้นทุนแบบ Real-time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ทำให้ข้อมูลหน้างานครบ ถูกต้อง และเร็วพอ — เพื่อทำต้นทุนที่วิเคราะห์ได้จริง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5440680"/>
            <a:ext cx="1993392" cy="868680"/>
          </a:xfrm>
          <a:prstGeom prst="roundRect">
            <a:avLst>
              <a:gd name="adj" fmla="val 10526"/>
            </a:avLst>
          </a:prstGeom>
          <a:solidFill>
            <a:srgbClr val="16263A"/>
          </a:solidFill>
          <a:ln w="12700">
            <a:solidFill>
              <a:srgbClr val="3246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5641848"/>
            <a:ext cx="457200" cy="457200"/>
          </a:xfrm>
          <a:prstGeom prst="ellipse">
            <a:avLst/>
          </a:prstGeom>
          <a:solidFill>
            <a:srgbClr val="12233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76072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5440680"/>
            <a:ext cx="1216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บัญชี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926080" y="5440680"/>
            <a:ext cx="1993392" cy="868680"/>
          </a:xfrm>
          <a:prstGeom prst="roundRect">
            <a:avLst>
              <a:gd name="adj" fmla="val 10526"/>
            </a:avLst>
          </a:prstGeom>
          <a:solidFill>
            <a:srgbClr val="16263A"/>
          </a:solidFill>
          <a:ln w="12700">
            <a:solidFill>
              <a:srgbClr val="3246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27248" y="5641848"/>
            <a:ext cx="457200" cy="457200"/>
          </a:xfrm>
          <a:prstGeom prst="ellipse">
            <a:avLst/>
          </a:prstGeom>
          <a:solidFill>
            <a:srgbClr val="12233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576072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5440680"/>
            <a:ext cx="1216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จัดซื้อ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029200" y="5440680"/>
            <a:ext cx="1993392" cy="868680"/>
          </a:xfrm>
          <a:prstGeom prst="roundRect">
            <a:avLst>
              <a:gd name="adj" fmla="val 10526"/>
            </a:avLst>
          </a:prstGeom>
          <a:solidFill>
            <a:srgbClr val="16263A"/>
          </a:solidFill>
          <a:ln w="12700">
            <a:solidFill>
              <a:srgbClr val="3246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30368" y="5641848"/>
            <a:ext cx="457200" cy="457200"/>
          </a:xfrm>
          <a:prstGeom prst="ellipse">
            <a:avLst/>
          </a:prstGeom>
          <a:solidFill>
            <a:srgbClr val="12233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57607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42432" y="5440680"/>
            <a:ext cx="1216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คลังพัสดุ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132320" y="5440680"/>
            <a:ext cx="1993392" cy="868680"/>
          </a:xfrm>
          <a:prstGeom prst="roundRect">
            <a:avLst>
              <a:gd name="adj" fmla="val 10526"/>
            </a:avLst>
          </a:prstGeom>
          <a:solidFill>
            <a:srgbClr val="16263A"/>
          </a:solidFill>
          <a:ln w="12700">
            <a:solidFill>
              <a:srgbClr val="32465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33488" y="5641848"/>
            <a:ext cx="457200" cy="457200"/>
          </a:xfrm>
          <a:prstGeom prst="ellipse">
            <a:avLst/>
          </a:prstGeom>
          <a:solidFill>
            <a:srgbClr val="12233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5760720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45552" y="5440680"/>
            <a:ext cx="1216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คลังน้ำมัน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9235440" y="5440680"/>
            <a:ext cx="1993392" cy="868680"/>
          </a:xfrm>
          <a:prstGeom prst="roundRect">
            <a:avLst>
              <a:gd name="adj" fmla="val 10526"/>
            </a:avLst>
          </a:prstGeom>
          <a:solidFill>
            <a:srgbClr val="16263A"/>
          </a:solidFill>
          <a:ln w="12700">
            <a:solidFill>
              <a:srgbClr val="32465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436608" y="5641848"/>
            <a:ext cx="457200" cy="457200"/>
          </a:xfrm>
          <a:prstGeom prst="ellipse">
            <a:avLst/>
          </a:prstGeom>
          <a:solidFill>
            <a:srgbClr val="12233A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576072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948672" y="5440680"/>
            <a:ext cx="1216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คลังโรงครัว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4B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จัดทำโดย NB · หัวหน้าบัญชี  |  มิถุนายน 2026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10424160" y="777240"/>
            <a:ext cx="914400" cy="914400"/>
          </a:xfrm>
          <a:prstGeom prst="ellipse">
            <a:avLst/>
          </a:prstGeom>
          <a:solidFill>
            <a:srgbClr val="12233A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1904" y="1014984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ที่มา: ทำไมต้องเริ่มโครงการนี้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52728" y="950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NB หัวหน้าบัญชี เห็นปัญหาจากการนั่งทำงบต้นทุนเอง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532120" cy="4800600"/>
          </a:xfrm>
          <a:prstGeom prst="roundRect">
            <a:avLst>
              <a:gd name="adj" fmla="val 2667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26384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198516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ปัญหาราก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697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งบต้นทุนเดิมเป็นการ </a:t>
            </a:r>
            <a:r>
              <a:rPr lang="en-US" sz="240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“รวมเลขทางบัญชี”</a:t>
            </a: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ไม่ได้แตกส่วนของต้นทุนออกมา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C2D0E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พอต้นทุนผิดปกติ ก็หาสาเหตุไม่ได้ — และระบบหน้างานเดิมยังไม่พร้อมป้อนข้อมูลที่ดีพอสำหรับการทำต้นทุน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1463040"/>
            <a:ext cx="534924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10528" y="1773936"/>
            <a:ext cx="868680" cy="868680"/>
          </a:xfrm>
          <a:prstGeom prst="ellipse">
            <a:avLst/>
          </a:prstGeom>
          <a:solidFill>
            <a:srgbClr val="F7E9E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385" y="1999793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1664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ของไม่ผ่านคลัง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543800" y="21031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ซื้อแล้วเข้าหน้างานเลย — ยอดซื้อกับยอดเบิกต่างกันมาก ตามรอยการใช้จริงไม่ได้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63640" y="3090672"/>
            <a:ext cx="534924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10528" y="3401568"/>
            <a:ext cx="868680" cy="868680"/>
          </a:xfrm>
          <a:prstGeom prst="ellipse">
            <a:avLst/>
          </a:prstGeom>
          <a:solidFill>
            <a:srgbClr val="F7E9E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385" y="3627425"/>
            <a:ext cx="416966" cy="41696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54380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ข้อมูลออกช้า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7543800" y="373075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ต้องกรอกมือหลายชั้น กว่าจะรวมเป็นงบได้ก็ช้าเกินใช้บริหารหน้างาน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63640" y="4718304"/>
            <a:ext cx="534924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10528" y="5029200"/>
            <a:ext cx="868680" cy="868680"/>
          </a:xfrm>
          <a:prstGeom prst="ellipse">
            <a:avLst/>
          </a:prstGeom>
          <a:solidFill>
            <a:srgbClr val="F7E9E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385" y="5255057"/>
            <a:ext cx="416966" cy="41696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43800" y="49194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วิเคราะห์ไม่ได้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543800" y="535838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ไม่รู้ว่าต้นทุนก้อนไหนไปกับงานเจาะ/ระเบิด/ขุดขน — วัดประสิทธิภาพต่อ BCM ไม่ได้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เป้าหมายของโครงการ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52728" y="950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จัดการข้อมูลให้ครบก่อน แล้วต้นทุนที่ออกมาถึงจะสมบูรณ์พอไปวิเคราะห์ต่อ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57600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74520"/>
            <a:ext cx="960120" cy="960120"/>
          </a:xfrm>
          <a:prstGeom prst="ellipse">
            <a:avLst/>
          </a:prstGeom>
          <a:solidFill>
            <a:srgbClr val="E4F1E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" y="2124151"/>
            <a:ext cx="460858" cy="46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ข้อมูลครบถ้วน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41248" y="3265211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ดันทุกการซื้อ–รับ–เบิก ให้เข้าระบบ 100% ไม่ตกหล่น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98848" y="1554480"/>
            <a:ext cx="3657600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18888" y="1874520"/>
            <a:ext cx="960120" cy="960120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519" y="212415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91456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เร็วใกล้ Real-time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791456" y="34015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เห็นต้นทุนทันทีที่เกิดรายการ ไม่ต้องรอปิดงบ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449056" y="1554480"/>
            <a:ext cx="3657600" cy="228600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69096" y="1874520"/>
            <a:ext cx="960120" cy="96012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8727" y="212415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41664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เป็น Digital ทั้งหมด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741664" y="34015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เลิกกรอกมือ ใช้แสกน + ลิงก์ข้อมูลอัตโนมัติ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4160520"/>
            <a:ext cx="11091672" cy="2103120"/>
          </a:xfrm>
          <a:prstGeom prst="roundRect">
            <a:avLst>
              <a:gd name="adj" fmla="val 6087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4400" y="4572000"/>
            <a:ext cx="914400" cy="914400"/>
          </a:xfrm>
          <a:prstGeom prst="ellipse">
            <a:avLst/>
          </a:prstGeom>
          <a:solidFill>
            <a:srgbClr val="26384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144" y="480974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05740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ผลที่ต้องการ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2057400" y="4937760"/>
            <a:ext cx="9235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ต้นทุนที่ “เล่าเรื่องในโครงการได้” </a:t>
            </a:r>
            <a:r>
              <a:rPr lang="en-US" sz="160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— ออกเร็วที่สุด ถูกต้องสมบูรณ์พอจะวิเคราะห์และบริหารหน้างานได้ถูกทิศ วัดผลผลิตงานเหมืองเป็นตัน/BCM เทียบกับต้นทุนที่ใช้ไปจริง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ภาพรวม: 5 งานที่สัมพันธ์กัน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52728" y="950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ทุกฟังก์ชันคือ “ต้นน้ำ” ที่ป้อนเข้างบต้นทุนเดียวกัน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70048" cy="2743200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200893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7432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จัดซื้อ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" y="314553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ติดตามงาน กันออเดอร์หลุด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83280" y="1508760"/>
            <a:ext cx="2670048" cy="2743200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1783080"/>
            <a:ext cx="868680" cy="868680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457" y="200893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27432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คลังพัสดุ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39312" y="314553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ของผ่านคลัง 100% ผูกต้นทุนต่อรถ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17920" y="1508760"/>
            <a:ext cx="2670048" cy="2743200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1783080"/>
            <a:ext cx="868680" cy="86868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097" y="200893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73952" y="27432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คลังน้ำมัน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14553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รายงานสด + ต้นทุน FIFO รายวัน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052560" y="1508760"/>
            <a:ext cx="2670048" cy="2743200"/>
          </a:xfrm>
          <a:prstGeom prst="roundRect">
            <a:avLst>
              <a:gd name="adj" fmla="val 4452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6880" y="1783080"/>
            <a:ext cx="868680" cy="868680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2737" y="200893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08592" y="27432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คลังโรงครัว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308592" y="314553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ตัดสต็อกสด ต้นทุนต่อหัว/วัน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43708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ทั้งหมดไหลลงสู่ ↓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4709160"/>
            <a:ext cx="11091672" cy="1481328"/>
          </a:xfrm>
          <a:prstGeom prst="roundRect">
            <a:avLst>
              <a:gd name="adj" fmla="val 8642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14400" y="5074920"/>
            <a:ext cx="777240" cy="777240"/>
          </a:xfrm>
          <a:prstGeom prst="ellipse">
            <a:avLst/>
          </a:prstGeom>
          <a:solidFill>
            <a:srgbClr val="26384F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482" y="5277002"/>
            <a:ext cx="373075" cy="37307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874520" y="4937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บัญชี — งบต้นทุน &amp; P&amp;L</a:t>
            </a:r>
            <a:endParaRPr lang="en-US" sz="1900" dirty="0"/>
          </a:p>
        </p:txBody>
      </p:sp>
      <p:sp>
        <p:nvSpPr>
          <p:cNvPr id="31" name="Text 24"/>
          <p:cNvSpPr/>
          <p:nvPr/>
        </p:nvSpPr>
        <p:spPr>
          <a:xfrm>
            <a:off x="1874520" y="541324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ปลายทางที่รวมทุกข้อมูล → แตกต้นทุนตามงาน/รถ → เทียบรายได้ → วัดประสิทธิภาพต่อ ตัน/BCM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งบสะพาน: ออกงบเร็วระหว่างรอระบบ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52728" y="950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ยอมรับว่าผิดหลักการ (ยังไม่ดึงจากระบบทั้งหมด) แต่แลกกับความเร็วเพื่อให้บริหารไม่สะดุด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83080"/>
            <a:ext cx="731520" cy="73152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19732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1783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TRCloud (ลาว)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2578608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อะไหล่/รายการย่อย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 ห้อง: TDL &amp; MVDC · TDL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63240" y="1554480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1783080"/>
            <a:ext cx="731520" cy="73152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603" y="197327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50792" y="1783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SAP (ไทย)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82696" y="2578608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เงินเดือนคนไทย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+ อะไหล่ซื้อจากฝั่งไทย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577840" y="1554480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79008" y="1783080"/>
            <a:ext cx="731520" cy="73152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203" y="197327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65392" y="1783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น้ำมัน FIFO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797296" y="2578608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ข้อมูลรับเข้าหน้างาน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ตีราคา MWA รายวัน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092440" y="1554480"/>
            <a:ext cx="239572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93608" y="1783080"/>
            <a:ext cx="731520" cy="73152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803" y="197327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79992" y="17830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JV Summary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311896" y="2578608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รายได้ + Back Charge</a:t>
            </a:r>
            <a:endParaRPr lang="en-US" sz="11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จาก LXML (Sheet/Email)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3584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 → งบสะพาน (P&amp;L)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4023360"/>
            <a:ext cx="5532120" cy="2240280"/>
          </a:xfrm>
          <a:prstGeom prst="roundRect">
            <a:avLst>
              <a:gd name="adj" fmla="val 5306"/>
            </a:avLst>
          </a:prstGeom>
          <a:solidFill>
            <a:srgbClr val="FBF1D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68680" y="4343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75" y="4533595"/>
            <a:ext cx="351130" cy="35113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737360" y="43708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ออกได้ช้าสุด วันที่ 10 ของเดือนถัดไป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68680" y="5120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เห็นภาพต้นทุนเทียบรายได้ได้ทุกเดือน ใช้ monitoring หน้างานได้ทันสถานการณ์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6263640" y="4023360"/>
            <a:ext cx="5349240" cy="2240280"/>
          </a:xfrm>
          <a:prstGeom prst="roundRect">
            <a:avLst>
              <a:gd name="adj" fmla="val 5306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583680" y="4343400"/>
            <a:ext cx="731520" cy="731520"/>
          </a:xfrm>
          <a:prstGeom prst="ellipse">
            <a:avLst/>
          </a:prstGeom>
          <a:solidFill>
            <a:srgbClr val="26384F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3875" y="4533595"/>
            <a:ext cx="351130" cy="35113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452360" y="43159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ยังไม่สมบูรณ์ 100% — ส่วนที่ใส่เป็น Estimation</a:t>
            </a:r>
            <a:endParaRPr lang="en-US" sz="1450" dirty="0"/>
          </a:p>
        </p:txBody>
      </p:sp>
      <p:sp>
        <p:nvSpPr>
          <p:cNvPr id="36" name="Text 28"/>
          <p:cNvSpPr/>
          <p:nvPr/>
        </p:nvSpPr>
        <p:spPr>
          <a:xfrm>
            <a:off x="6583680" y="5074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OT ได้หลังวันที่ 15 — ไม่ทันรอบส่ง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ค่าใช้จ่ายบางส่วนสรุปจริง วันที่ 10–15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ใช้ run-rate/ประมาณการที่ใกล้เคียงพอบริหาร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3F16B4-FBF8-AC6A-7E05-5A2F3DAC3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56" y="457200"/>
            <a:ext cx="1085588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35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5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99F005-B242-73D7-D065-4C01C7721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25416"/>
            <a:ext cx="10905066" cy="520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15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DEB4A-7578-BD92-4839-AA92FF461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84522"/>
            <a:ext cx="10905066" cy="52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งานที่ 1 — จัดซื้อ: ติดตามงาน กันออเดอร์หลุด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52728" y="950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ยังไม่แตะ flow งาน แค่ทำให้ปัญหาเบาลงด้วยข้อมูลที่ถูกต้องขึ้น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114800" cy="4663440"/>
          </a:xfrm>
          <a:prstGeom prst="roundRect">
            <a:avLst>
              <a:gd name="adj" fmla="val 2889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26384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0647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9019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ปัญหา: งานพอกหางหมู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→ 20 → 30+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68680" y="3337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 เข้าช่วงพีค &gt;10/วัน ทำเสร็จยังต้องตามจ่ายต่อ แต่ติดสภาพคล่อง งานเลยสะสม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370832"/>
            <a:ext cx="3383280" cy="0"/>
          </a:xfrm>
          <a:prstGeom prst="line">
            <a:avLst/>
          </a:prstGeom>
          <a:noFill/>
          <a:ln w="12700">
            <a:solidFill>
              <a:srgbClr val="3246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45262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ผลกระทบ: </a:t>
            </a:r>
            <a:r>
              <a:rPr lang="en-US" sz="135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หลายรายการที่ต้องซื้อถูกลืม/หลุด กระทบหน้างาน — เป็นเรื้อรังแม้เปลี่ยน/เพิ่มคนแล้ว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846320" y="1554480"/>
            <a:ext cx="67939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38928" y="1874520"/>
            <a:ext cx="822960" cy="82296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898" y="2088490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126480" y="19019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เว็บติดตามงานจัดซื้อ (pr-warehouse)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126480" y="2395728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เลิกกรอก Google Sheet มือ </a:t>
            </a:r>
            <a:r>
              <a:rPr lang="en-US" sz="13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→ ดึงจาก TRCloud โดยตรงด้วย web scraping ลิงก์ real-time กับฐานข้อมูลบริษัท ลดขั้นตอน + ข้อมูลถูกต้องขึ้น (เป็นเอกสารที่ผ่านหัวหน้าตรวจแล้ว)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4846320" y="3977640"/>
            <a:ext cx="6793992" cy="2240280"/>
          </a:xfrm>
          <a:prstGeom prst="roundRect">
            <a:avLst>
              <a:gd name="adj" fmla="val 4898"/>
            </a:avLst>
          </a:prstGeom>
          <a:solidFill>
            <a:srgbClr val="FBF1D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138928" y="4160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จุดเด่น: ปรับฟีเจอร์ตามหน้างานได้ภายในวัน (&lt; 15 นาที)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5138928" y="470916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541264" y="4864608"/>
            <a:ext cx="566928" cy="566928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665" y="5012009"/>
            <a:ext cx="272125" cy="2721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38928" y="5468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GitHub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138928" y="57241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วางโค้ดพร้อมใช้</a:t>
            </a:r>
            <a:endParaRPr lang="en-US" sz="9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230368"/>
            <a:ext cx="182880" cy="1828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510528" y="470916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912864" y="4864608"/>
            <a:ext cx="566928" cy="566928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0265" y="5012009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510528" y="5468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VS Code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510528" y="57241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เขียน/แก้โค้ด</a:t>
            </a:r>
            <a:endParaRPr lang="en-US" sz="9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5230368"/>
            <a:ext cx="182880" cy="18288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7882128" y="470916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284464" y="4864608"/>
            <a:ext cx="566928" cy="566928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1865" y="5012009"/>
            <a:ext cx="272125" cy="27212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882128" y="5468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/ Claude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7882128" y="57241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แก้ด้วย prompt</a:t>
            </a:r>
            <a:endParaRPr lang="en-US" sz="95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5230368"/>
            <a:ext cx="182880" cy="18288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253728" y="470916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9656064" y="4864608"/>
            <a:ext cx="566928" cy="566928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3465" y="5012009"/>
            <a:ext cx="272125" cy="27212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253728" y="5468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ใช้งานจริง</a:t>
            </a:r>
            <a:endParaRPr lang="en-US" sz="1250" dirty="0"/>
          </a:p>
        </p:txBody>
      </p:sp>
      <p:sp>
        <p:nvSpPr>
          <p:cNvPr id="43" name="Text 32"/>
          <p:cNvSpPr/>
          <p:nvPr/>
        </p:nvSpPr>
        <p:spPr>
          <a:xfrm>
            <a:off x="9253728" y="57241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deploy ทันที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งานที่ 2 — คลังน้ำมัน: รายงานสด + ต้นทุนรายวัน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52728" y="950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ยุบหลายชีทเป็นชีทเดียว ลิงก์จาก MES → แสดงสถานะใกล้ real-time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53212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74520"/>
            <a:ext cx="822960" cy="82296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08849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874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เว็บรายงานน้ำมัน (Fuel2)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28800" y="2359152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เดิมทีมน้ำมันกรอกหลายชีทเพื่อรายงานรายวัน + ประชุม weekly → ยุบเป็นชีทเดียว ดึงจาก MES ตรง เป็นข้อมูลตัวเดียวกับงบสะพาน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532120" cy="2240280"/>
          </a:xfrm>
          <a:prstGeom prst="roundRect">
            <a:avLst>
              <a:gd name="adj" fmla="val 4898"/>
            </a:avLst>
          </a:prstGeom>
          <a:solidFill>
            <a:srgbClr val="FBF1D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41248" y="4297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8" y="451165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4297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ต้นทุนน้ำมัน FIFO (MWA)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828800" y="4782312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ตีราคาน้ำมันที่เบิกแบบ moving-weighted-average ระบุต้นทุนจริงระดับรายวัน — กลั่นเป็น skill ใช้ซ้ำได้ทุกเดือน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63640" y="1554480"/>
            <a:ext cx="5349240" cy="4663440"/>
          </a:xfrm>
          <a:prstGeom prst="roundRect">
            <a:avLst>
              <a:gd name="adj" fmla="val 2549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แผนแอปแสกนจ่ายน้ำมัน — ลดจุดแสกน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83680" y="22128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ปัจจุบัน 4 จุด: หัวจ่าย · คนจ่าย · รถ · คน  (พนักงานลืมพกบัตร = เติมไม่ได้ → ถอยไปเขียนมือ)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8368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FA4B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 </a:t>
            </a:r>
            <a:r>
              <a:rPr lang="en-US" sz="4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→ </a:t>
            </a:r>
            <a:r>
              <a:rPr lang="en-US" sz="440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868680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เหลือแค่ หัวจ่าย + รถ</a:t>
            </a:r>
            <a:endParaRPr lang="en-US" sz="15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10565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31152" y="402336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คนจ่าย — </a:t>
            </a:r>
            <a:r>
              <a:rPr lang="en-US" sz="125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จาก login (แอป offline → push เมื่อมีเน็ต)</a:t>
            </a:r>
            <a:endParaRPr lang="en-US" sz="12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81888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31152" y="473659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คนขับ — </a:t>
            </a:r>
            <a:r>
              <a:rPr lang="en-US" sz="125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จากแถบแม่เหล็ก/GPS ที่ใช้สตาร์ทรถ (ชั่วคราวแสกนบัตร LXML)</a:t>
            </a:r>
            <a:endParaRPr lang="en-US" sz="12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532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31152" y="544982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ไม่มีบัตร — </a:t>
            </a:r>
            <a:r>
              <a:rPr lang="en-US" sz="125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เติมได้ก่อน ไม่บล็อก production — บันทึกไว้จัดการทีหลัง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งานที่ 3 — คลังพัสดุ: หัวใจของต้นทุน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52728" y="950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ดันของให้ผ่านคลัง 100% เพื่อผูกการเบิกเข้ากับรถที่ซ่อมจริง → ต้นทุนต่อ BCM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383280" cy="4754880"/>
          </a:xfrm>
          <a:prstGeom prst="roundRect">
            <a:avLst>
              <a:gd name="adj" fmla="val 3514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83080"/>
            <a:ext cx="777240" cy="777240"/>
          </a:xfrm>
          <a:prstGeom prst="ellipse">
            <a:avLst/>
          </a:prstGeom>
          <a:solidFill>
            <a:srgbClr val="26384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30" y="198516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ยอดซื้อ ≠ ยอดเบิก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68680" y="361188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ของส่วนใหญ่ไม่ผ่านคลัง — ซื้อแล้วเข้าหน้างานเลย หรือเขียนใบเบิกแต่ไม่ลงข้อมูล จึงไม่รู้ว่าใช้จริงเมื่อไหร่ กับรถคันไหน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114800" y="1463040"/>
            <a:ext cx="3721608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5968" y="1737360"/>
            <a:ext cx="713232" cy="713232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408" y="1922800"/>
            <a:ext cx="342351" cy="3423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38928" y="164592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ผูก Work Order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138928" y="2029968"/>
            <a:ext cx="25511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ทุกการเบิกผูก รถ + cost center + กิจกรรม (air code ฝังในฐานข้อมูล)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982712" y="1463040"/>
            <a:ext cx="3721608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83880" y="1737360"/>
            <a:ext cx="713232" cy="713232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320" y="1922800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06840" y="164592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ต้นทุนต่อรถ/งาน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9006840" y="2029968"/>
            <a:ext cx="25511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DB function สรุปต้นทุน ABC รายรถ + ราย cost center อัตโนมัติ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114800" y="3099816"/>
            <a:ext cx="3721608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315968" y="3374136"/>
            <a:ext cx="713232" cy="713232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1408" y="3559576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38928" y="328269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Handshake 2 ฝั่ง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5138928" y="3666744"/>
            <a:ext cx="25511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แสกนยืนยันคนเบิก–คนจ่าย · ระบบจับยืนยันข้างเดียวทุกชั่วโมง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982712" y="3099816"/>
            <a:ext cx="3721608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183880" y="3374136"/>
            <a:ext cx="713232" cy="713232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320" y="3559576"/>
            <a:ext cx="342351" cy="34235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006840" y="328269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Soft-block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9006840" y="3666744"/>
            <a:ext cx="25511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ของด่วนเบิกผ่านได้ ไม่บล็อก production แต่ติดธงไว้ตรวจ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114800" y="4736592"/>
            <a:ext cx="3721608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315968" y="5010912"/>
            <a:ext cx="713232" cy="713232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1408" y="5196352"/>
            <a:ext cx="342351" cy="342351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38928" y="491947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Offline-first</a:t>
            </a:r>
            <a:endParaRPr lang="en-US" sz="1450" dirty="0"/>
          </a:p>
        </p:txBody>
      </p:sp>
      <p:sp>
        <p:nvSpPr>
          <p:cNvPr id="36" name="Text 28"/>
          <p:cNvSpPr/>
          <p:nvPr/>
        </p:nvSpPr>
        <p:spPr>
          <a:xfrm>
            <a:off x="5138928" y="5303520"/>
            <a:ext cx="25511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 SQLite ในเครื่อง → sync ขึ้น cloud เมื่อมีเน็ต (เน็ตหน้างานแย่)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7982712" y="4736592"/>
            <a:ext cx="3721608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183880" y="5010912"/>
            <a:ext cx="713232" cy="713232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9320" y="5196352"/>
            <a:ext cx="342351" cy="342351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006840" y="491947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Cycle count</a:t>
            </a:r>
            <a:endParaRPr lang="en-US" sz="1450" dirty="0"/>
          </a:p>
        </p:txBody>
      </p:sp>
      <p:sp>
        <p:nvSpPr>
          <p:cNvPr id="41" name="Text 32"/>
          <p:cNvSpPr/>
          <p:nvPr/>
        </p:nvSpPr>
        <p:spPr>
          <a:xfrm>
            <a:off x="9006840" y="5303520"/>
            <a:ext cx="25511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กระทบยอดช่องว่างซื้อ–เบิก ระบุเหตุ เช่น เบิกไม่ลงบันทึก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สถาปัตยกรรมคลัง: Offline-first → Cloud → ERP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52728" y="950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หน้างานไม่มีวันสะดุดเพราะเน็ต — ข้อมูลพักในเครื่องก่อน แล้วค่อย sync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62456" y="1938528"/>
            <a:ext cx="914400" cy="91440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1762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9260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อุปกรณ์หน้างาน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4944" y="331012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Tablet/Mobile (Expo)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กรอก/เลือก/ถ่ายรูป/แสกน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743200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090672" y="169164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904488" y="1938528"/>
            <a:ext cx="914400" cy="914400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2176272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00400" y="29260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เก็บในเครื่อง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236976" y="331012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SQLite + sync queue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status: pending (ออฟไลน์)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743200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632704" y="169164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46520" y="1938528"/>
            <a:ext cx="914400" cy="91440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2176272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42432" y="29260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ฐานข้อมูลกลาง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779008" y="331012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Google Cloud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PostgreSQL + realtime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743200"/>
            <a:ext cx="219456" cy="21945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174736" y="169164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8988552" y="1938528"/>
            <a:ext cx="914400" cy="914400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6296" y="2176272"/>
            <a:ext cx="438912" cy="43891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284464" y="29260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TRCloud ERP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8321040" y="3310128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POST รับเข้า (GR) / จ่ายออก (GI)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เอกสาร + สต็อก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548640" y="4297680"/>
            <a:ext cx="11091672" cy="1920240"/>
          </a:xfrm>
          <a:prstGeom prst="roundRect">
            <a:avLst>
              <a:gd name="adj" fmla="val 6190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914400" y="4709160"/>
            <a:ext cx="777240" cy="777240"/>
          </a:xfrm>
          <a:prstGeom prst="ellipse">
            <a:avLst/>
          </a:prstGeom>
          <a:solidFill>
            <a:srgbClr val="26384F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482" y="4911242"/>
            <a:ext cx="373075" cy="37307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874520" y="4617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Sync เช็คสองทาง (two-way)</a:t>
            </a:r>
            <a:endParaRPr lang="en-US" sz="1700" dirty="0"/>
          </a:p>
        </p:txBody>
      </p:sp>
      <p:sp>
        <p:nvSpPr>
          <p:cNvPr id="33" name="Text 23"/>
          <p:cNvSpPr/>
          <p:nvPr/>
        </p:nvSpPr>
        <p:spPr>
          <a:xfrm>
            <a:off x="1874520" y="507492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เทียบข้อมูลทั้งสองฝั่ง ถ้าไม่ตรง เติมส่วนที่หายไป · ใช้ </a:t>
            </a: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offline_id เป็น idempotency key</a:t>
            </a:r>
            <a:r>
              <a:rPr lang="en-US" sz="140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กันบันทึกซ้ำ · ข้อมูลแบบ change-on-edit · ตัดสต็อกแสดงผลบนเว็บ/แอปแบบ real-time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งานที่ 4 — คลังโรงครัว: ต้นทุนต่อหัว/วัน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52728" y="950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ไม่ลงลึกเท่าเหมือง/คลังพัสดุ — เน้นแสดงต้นทุน real-time ทันทีที่รับเข้า/เบิก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53212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74520"/>
            <a:ext cx="868680" cy="868680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5" y="210037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ระบบทำงาน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260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2834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รับเข้า — </a:t>
            </a:r>
            <a:r>
              <a:rPr lang="en-US" sz="14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ใช้ถ่ายรูปเป็นหลัก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033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3611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เบิก/ตัดออก — </a:t>
            </a:r>
            <a:r>
              <a:rPr lang="en-US" sz="14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ใช้แสกน → ตัดสต็อก real-time บนเว็บ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1872" y="4389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 — </a:t>
            </a:r>
            <a:r>
              <a:rPr lang="en-US" sz="14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localStorage → cloud → ฐานบริษัท (sync 2 ทาง)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6868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2C7DA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หัวใจร่วมกับคลังพัสดุ: ตัด stock แบบ real-time บนเว็บ/แอป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263640" y="1554480"/>
            <a:ext cx="5349240" cy="4663440"/>
          </a:xfrm>
          <a:prstGeom prst="roundRect">
            <a:avLst>
              <a:gd name="adj" fmla="val 2549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58368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โครงต้นทุนที่เก็บ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583680" y="2423160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21344C"/>
          </a:solidFill>
          <a:ln/>
        </p:spPr>
      </p:sp>
      <p:sp>
        <p:nvSpPr>
          <p:cNvPr id="20" name="Shape 14"/>
          <p:cNvSpPr/>
          <p:nvPr/>
        </p:nvSpPr>
        <p:spPr>
          <a:xfrm>
            <a:off x="6729984" y="2542032"/>
            <a:ext cx="512064" cy="512064"/>
          </a:xfrm>
          <a:prstGeom prst="ellipse">
            <a:avLst/>
          </a:prstGeom>
          <a:solidFill>
            <a:srgbClr val="16263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121" y="2675169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70064" y="2496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เมนู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370064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อาหารแต่ละมื้อ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69680" y="3099816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583680" y="3264408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21344C"/>
          </a:solidFill>
          <a:ln/>
        </p:spPr>
      </p:sp>
      <p:sp>
        <p:nvSpPr>
          <p:cNvPr id="26" name="Shape 18"/>
          <p:cNvSpPr/>
          <p:nvPr/>
        </p:nvSpPr>
        <p:spPr>
          <a:xfrm>
            <a:off x="6729984" y="3383280"/>
            <a:ext cx="512064" cy="512064"/>
          </a:xfrm>
          <a:prstGeom prst="ellipse">
            <a:avLst/>
          </a:prstGeom>
          <a:solidFill>
            <a:srgbClr val="16263A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121" y="3516417"/>
            <a:ext cx="245791" cy="24579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370064" y="3337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วัตถุดิบ</a:t>
            </a:r>
            <a:endParaRPr lang="en-US" sz="1450" dirty="0"/>
          </a:p>
        </p:txBody>
      </p:sp>
      <p:sp>
        <p:nvSpPr>
          <p:cNvPr id="29" name="Text 20"/>
          <p:cNvSpPr/>
          <p:nvPr/>
        </p:nvSpPr>
        <p:spPr>
          <a:xfrm>
            <a:off x="7370064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ของที่ใช้ในเมนูนั้น</a:t>
            </a:r>
            <a:endParaRPr lang="en-US" sz="10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69680" y="3941064"/>
            <a:ext cx="182880" cy="18288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583680" y="4105656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21344C"/>
          </a:solidFill>
          <a:ln/>
        </p:spPr>
      </p:sp>
      <p:sp>
        <p:nvSpPr>
          <p:cNvPr id="32" name="Shape 22"/>
          <p:cNvSpPr/>
          <p:nvPr/>
        </p:nvSpPr>
        <p:spPr>
          <a:xfrm>
            <a:off x="6729984" y="4224528"/>
            <a:ext cx="512064" cy="512064"/>
          </a:xfrm>
          <a:prstGeom prst="ellipse">
            <a:avLst/>
          </a:prstGeom>
          <a:solidFill>
            <a:srgbClr val="16263A"/>
          </a:solidFill>
          <a:ln/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3121" y="4357665"/>
            <a:ext cx="245791" cy="24579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370064" y="4178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ต้นทุนรวมรอบเบิก</a:t>
            </a:r>
            <a:endParaRPr lang="en-US" sz="1450" dirty="0"/>
          </a:p>
        </p:txBody>
      </p:sp>
      <p:sp>
        <p:nvSpPr>
          <p:cNvPr id="35" name="Text 24"/>
          <p:cNvSpPr/>
          <p:nvPr/>
        </p:nvSpPr>
        <p:spPr>
          <a:xfrm>
            <a:off x="7370064" y="4517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มูลค่าทั้งหมดที่เบิกใช้</a:t>
            </a:r>
            <a:endParaRPr lang="en-US" sz="10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69680" y="4782312"/>
            <a:ext cx="182880" cy="18288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6583680" y="4946904"/>
            <a:ext cx="4754880" cy="749808"/>
          </a:xfrm>
          <a:prstGeom prst="roundRect">
            <a:avLst>
              <a:gd name="adj" fmla="val 9756"/>
            </a:avLst>
          </a:prstGeom>
          <a:solidFill>
            <a:srgbClr val="E0A11B"/>
          </a:solidFill>
          <a:ln/>
        </p:spPr>
      </p:sp>
      <p:sp>
        <p:nvSpPr>
          <p:cNvPr id="38" name="Shape 26"/>
          <p:cNvSpPr/>
          <p:nvPr/>
        </p:nvSpPr>
        <p:spPr>
          <a:xfrm>
            <a:off x="6729984" y="5065776"/>
            <a:ext cx="512064" cy="512064"/>
          </a:xfrm>
          <a:prstGeom prst="ellipse">
            <a:avLst/>
          </a:prstGeom>
          <a:solidFill>
            <a:srgbClr val="F2DCA0"/>
          </a:solidFill>
          <a:ln/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3121" y="5198913"/>
            <a:ext cx="245791" cy="245791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7370064" y="5020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ต้นทุนต่อหัว/วัน</a:t>
            </a:r>
            <a:endParaRPr lang="en-US" sz="1450" dirty="0"/>
          </a:p>
        </p:txBody>
      </p:sp>
      <p:sp>
        <p:nvSpPr>
          <p:cNvPr id="41" name="Text 28"/>
          <p:cNvSpPr/>
          <p:nvPr/>
        </p:nvSpPr>
        <p:spPr>
          <a:xfrm>
            <a:off x="7370064" y="5358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431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÷ จำนวนพนักงานที่ทำงานวันนั้น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เครื่องมือ &amp; วิธีทำงาน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52728" y="950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TRCloud เป็นแกนข้อมูลกลาง — ดึงครั้งเดียว ป้อนได้ทั้งงบสะพานและทุกแอป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7004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49324" y="1938528"/>
            <a:ext cx="868680" cy="86868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81" y="2164385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077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TRCloud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 ERP ต้นทาง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65176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37560" y="1691640"/>
            <a:ext cx="267004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38244" y="1938528"/>
            <a:ext cx="868680" cy="86868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101" y="2164385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29000" y="29077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Python Extractor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429000" y="329184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ดึง PO/AP/IV → Excel + JSON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2651760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6480" y="1691640"/>
            <a:ext cx="267004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27164" y="1938528"/>
            <a:ext cx="868680" cy="86868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021" y="2164385"/>
            <a:ext cx="416966" cy="41696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17920" y="29077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ฐานข้อมูลกลาง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217920" y="329184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Google Cloud</a:t>
            </a:r>
            <a:endParaRPr lang="en-US" sz="11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651760"/>
            <a:ext cx="201168" cy="20116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915400" y="1691640"/>
            <a:ext cx="267004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9816084" y="1938528"/>
            <a:ext cx="868680" cy="86868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1941" y="2164385"/>
            <a:ext cx="416966" cy="41696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006840" y="29077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 / แอป / งบ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9006840" y="329184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 · น้ำมัน · จัดซื้อ · P&amp;L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548640" y="4069080"/>
            <a:ext cx="6949440" cy="2148840"/>
          </a:xfrm>
          <a:prstGeom prst="roundRect">
            <a:avLst>
              <a:gd name="adj" fmla="val 5106"/>
            </a:avLst>
          </a:prstGeom>
          <a:solidFill>
            <a:srgbClr val="F5F7F9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30" name="Text 21"/>
          <p:cNvSpPr/>
          <p:nvPr/>
        </p:nvSpPr>
        <p:spPr>
          <a:xfrm>
            <a:off x="82296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C8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ชุดเครื่องมือ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822960" y="4617720"/>
            <a:ext cx="230428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822960" y="4617720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Cowork + AI (Claude)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3255264" y="4617720"/>
            <a:ext cx="14401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3255264" y="4617720"/>
            <a:ext cx="14401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TRCloud API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4823460" y="4617720"/>
            <a:ext cx="182422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823460" y="4617720"/>
            <a:ext cx="1824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Python / pandas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822960" y="516636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22960" y="516636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Google Cloud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2487168" y="5166360"/>
            <a:ext cx="10561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2487168" y="5166360"/>
            <a:ext cx="1056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Next.js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3671316" y="5166360"/>
            <a:ext cx="220827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3671316" y="5166360"/>
            <a:ext cx="22082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Expo / React Native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6007608" y="5166360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007608" y="51663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NestJS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822960" y="5715000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22960" y="571500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GitHub</a:t>
            </a:r>
            <a:endParaRPr lang="en-US" sz="1150" dirty="0"/>
          </a:p>
        </p:txBody>
      </p:sp>
      <p:sp>
        <p:nvSpPr>
          <p:cNvPr id="47" name="Shape 38"/>
          <p:cNvSpPr/>
          <p:nvPr/>
        </p:nvSpPr>
        <p:spPr>
          <a:xfrm>
            <a:off x="1911096" y="5715000"/>
            <a:ext cx="10561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1911096" y="5715000"/>
            <a:ext cx="1056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VS Code</a:t>
            </a:r>
            <a:endParaRPr lang="en-US" sz="1150" dirty="0"/>
          </a:p>
        </p:txBody>
      </p:sp>
      <p:sp>
        <p:nvSpPr>
          <p:cNvPr id="49" name="Shape 40"/>
          <p:cNvSpPr/>
          <p:nvPr/>
        </p:nvSpPr>
        <p:spPr>
          <a:xfrm>
            <a:off x="7680960" y="4069080"/>
            <a:ext cx="3959352" cy="2148840"/>
          </a:xfrm>
          <a:prstGeom prst="roundRect">
            <a:avLst>
              <a:gd name="adj" fmla="val 5106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7973568" y="4370832"/>
            <a:ext cx="731520" cy="731520"/>
          </a:xfrm>
          <a:prstGeom prst="ellipse">
            <a:avLst/>
          </a:prstGeom>
          <a:solidFill>
            <a:srgbClr val="26384F"/>
          </a:solidFill>
          <a:ln/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3763" y="4561027"/>
            <a:ext cx="351130" cy="35113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8823960" y="44074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ปรับได้เร็วระดับวัน</a:t>
            </a:r>
            <a:endParaRPr lang="en-US" sz="1600" dirty="0"/>
          </a:p>
        </p:txBody>
      </p:sp>
      <p:sp>
        <p:nvSpPr>
          <p:cNvPr id="53" name="Text 43"/>
          <p:cNvSpPr/>
          <p:nvPr/>
        </p:nvSpPr>
        <p:spPr>
          <a:xfrm>
            <a:off x="7973568" y="51206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8D4E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โค้ดเขียนเอง + AI ช่วยแก้ตาม prompt → ปรับฟีเจอร์ตามหน้างานได้ทันใจ ต่างจากระบบ IT ทั่วไปที่ใช้สัปดาห์/เดือน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3584" y="4572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6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สถานะ &amp; ก้าวต่อไป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53212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691640"/>
            <a:ext cx="713232" cy="713232"/>
          </a:xfrm>
          <a:prstGeom prst="ellipse">
            <a:avLst/>
          </a:prstGeom>
          <a:solidFill>
            <a:srgbClr val="E4F1E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88" y="18770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6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ทำแล้ว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963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งบสะพาน (P&amp;L) ออกได้ทุกเดือน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0837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07008" y="29443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จัดซื้อ — เว็บติดตามงาน pr-warehouse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2044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34564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คลังน้ำมัน — เว็บรายงาน + ต้นทุน FIFO (skill)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32504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39684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คลังพัสดุ — แอป offline-first สร้างจริง (schema + DB function)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4456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207008" y="4480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คลังโรงครัว — ออกแบบระบบ + โครงต้นทุน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6263640" y="1417320"/>
            <a:ext cx="5376672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6556248" y="1691640"/>
            <a:ext cx="713232" cy="713232"/>
          </a:xfrm>
          <a:prstGeom prst="ellipse">
            <a:avLst/>
          </a:prstGeom>
          <a:solidFill>
            <a:srgbClr val="FBF1DA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688" y="1877080"/>
            <a:ext cx="342351" cy="34235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0664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ก้าวต่อไป</a:t>
            </a:r>
            <a:endParaRPr lang="en-US" sz="1800" dirty="0"/>
          </a:p>
        </p:txBody>
      </p:sp>
      <p:sp>
        <p:nvSpPr>
          <p:cNvPr id="23" name="Shape 14"/>
          <p:cNvSpPr/>
          <p:nvPr/>
        </p:nvSpPr>
        <p:spPr>
          <a:xfrm>
            <a:off x="6583680" y="2514600"/>
            <a:ext cx="164592" cy="164592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24" name="Text 15"/>
          <p:cNvSpPr/>
          <p:nvPr/>
        </p:nvSpPr>
        <p:spPr>
          <a:xfrm>
            <a:off x="6903720" y="24323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นำแอปคลังพัสดุขึ้นใช้จริง — ของผ่านคลัง 100%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6583680" y="3026664"/>
            <a:ext cx="164592" cy="164592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26" name="Text 17"/>
          <p:cNvSpPr/>
          <p:nvPr/>
        </p:nvSpPr>
        <p:spPr>
          <a:xfrm>
            <a:off x="6903720" y="2944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แอปแสกนจ่ายน้ำมัน (ลด 4→2 จุด) + GPS รถ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583680" y="3538728"/>
            <a:ext cx="164592" cy="164592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28" name="Text 19"/>
          <p:cNvSpPr/>
          <p:nvPr/>
        </p:nvSpPr>
        <p:spPr>
          <a:xfrm>
            <a:off x="6903720" y="3456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คลังโรงครัว — ตัดสต็อก + ต้นทุนต่อหัวสด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583680" y="4050792"/>
            <a:ext cx="164592" cy="164592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0" name="Text 21"/>
          <p:cNvSpPr/>
          <p:nvPr/>
        </p:nvSpPr>
        <p:spPr>
          <a:xfrm>
            <a:off x="6903720" y="39684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เชื่อมทุกคลังเข้างบต้นทุน → ต้นทุนต่อ BCM real-time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583680" y="4562856"/>
            <a:ext cx="164592" cy="164592"/>
          </a:xfrm>
          <a:prstGeom prst="ellipse">
            <a:avLst/>
          </a:prstGeom>
          <a:solidFill>
            <a:srgbClr val="E0A11B"/>
          </a:solidFill>
          <a:ln/>
        </p:spPr>
      </p:sp>
      <p:sp>
        <p:nvSpPr>
          <p:cNvPr id="32" name="Text 23"/>
          <p:cNvSpPr/>
          <p:nvPr/>
        </p:nvSpPr>
        <p:spPr>
          <a:xfrm>
            <a:off x="690372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3A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ลดการพึ่ง Estimation ในงบสะพานทีละส่วน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548640" y="53035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6263A"/>
          </a:solidFill>
          <a:ln w="12700">
            <a:solidFill>
              <a:srgbClr val="E2E8EE"/>
            </a:solidFill>
            <a:prstDash val="solid"/>
          </a:ln>
          <a:effectLst>
            <a:outerShdw blurRad="114300" dist="38100" dir="5400000" algn="bl" rotWithShape="0">
              <a:srgbClr val="0B1722">
                <a:alpha val="16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868680" y="5486400"/>
            <a:ext cx="640080" cy="640080"/>
          </a:xfrm>
          <a:prstGeom prst="ellipse">
            <a:avLst/>
          </a:prstGeom>
          <a:solidFill>
            <a:srgbClr val="26384F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5652821"/>
            <a:ext cx="307238" cy="30723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691640" y="53035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0A1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ปลายทาง:  </a:t>
            </a:r>
            <a:r>
              <a:rPr lang="en-US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ข้อมูลหน้างานเป็น digital ครบวงจร → ต้นทุนที่ถูกต้อง เร็ว และวิเคราะห์หาสาเหตุได้ใกล้ real-time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2441</TotalTime>
  <Words>1561</Words>
  <Application>Microsoft Office PowerPoint</Application>
  <PresentationFormat>Widescreen</PresentationFormat>
  <Paragraphs>203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Sarabun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ปฏิรูประบบข้อมูลหน้างานสู่ต้นทุน Real-time</dc:title>
  <dc:subject>PptxGenJS Presentation</dc:subject>
  <dc:creator>NB</dc:creator>
  <cp:lastModifiedBy>Don Wongyara</cp:lastModifiedBy>
  <cp:revision>3</cp:revision>
  <dcterms:created xsi:type="dcterms:W3CDTF">2026-06-25T06:31:45Z</dcterms:created>
  <dcterms:modified xsi:type="dcterms:W3CDTF">2026-06-26T23:14:10Z</dcterms:modified>
</cp:coreProperties>
</file>